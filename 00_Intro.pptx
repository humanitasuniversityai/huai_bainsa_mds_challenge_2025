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Montserrat"/>
      <p:bold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Montserrat-boldItalic.fntdata"/><Relationship Id="rId10" Type="http://schemas.openxmlformats.org/officeDocument/2006/relationships/font" Target="fonts/Montserrat-bold.fntdata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833a98fb1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833a98fb1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833a98fb1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a833a98fb1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833a98fb1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a833a98fb1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83475" y="92100"/>
            <a:ext cx="1060551" cy="909159"/>
          </a:xfrm>
          <a:custGeom>
            <a:rect b="b" l="l" r="r" t="t"/>
            <a:pathLst>
              <a:path extrusionOk="0" h="2616285" w="3119267">
                <a:moveTo>
                  <a:pt x="0" y="0"/>
                </a:moveTo>
                <a:lnTo>
                  <a:pt x="3119268" y="0"/>
                </a:lnTo>
                <a:lnTo>
                  <a:pt x="3119268" y="2616285"/>
                </a:lnTo>
                <a:lnTo>
                  <a:pt x="0" y="26162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25"/>
          <p:cNvSpPr txBox="1"/>
          <p:nvPr/>
        </p:nvSpPr>
        <p:spPr>
          <a:xfrm>
            <a:off x="2314825" y="263325"/>
            <a:ext cx="5038800" cy="13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latin typeface="Montserrat"/>
                <a:ea typeface="Montserrat"/>
                <a:cs typeface="Montserrat"/>
                <a:sym typeface="Montserrat"/>
              </a:rPr>
              <a:t>Dataset overview – MDS Challenge (Train Set)</a:t>
            </a:r>
            <a:endParaRPr b="1"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199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1" name="Google Shape;13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9150" y="92100"/>
            <a:ext cx="1060550" cy="1024287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 txBox="1"/>
          <p:nvPr/>
        </p:nvSpPr>
        <p:spPr>
          <a:xfrm>
            <a:off x="426050" y="1869575"/>
            <a:ext cx="47013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Rows (patients):</a:t>
            </a:r>
            <a: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2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N = 1000</a:t>
            </a:r>
            <a:br>
              <a:rPr lang="en" sz="22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2200">
              <a:solidFill>
                <a:srgbClr val="1880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Columns (features):</a:t>
            </a:r>
            <a: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2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D = 259</a:t>
            </a:r>
            <a:endParaRPr sz="2200">
              <a:solidFill>
                <a:srgbClr val="1880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/>
          <p:nvPr/>
        </p:nvSpPr>
        <p:spPr>
          <a:xfrm>
            <a:off x="83475" y="92100"/>
            <a:ext cx="1060551" cy="909159"/>
          </a:xfrm>
          <a:custGeom>
            <a:rect b="b" l="l" r="r" t="t"/>
            <a:pathLst>
              <a:path extrusionOk="0" h="2616285" w="3119267">
                <a:moveTo>
                  <a:pt x="0" y="0"/>
                </a:moveTo>
                <a:lnTo>
                  <a:pt x="3119268" y="0"/>
                </a:lnTo>
                <a:lnTo>
                  <a:pt x="3119268" y="2616285"/>
                </a:lnTo>
                <a:lnTo>
                  <a:pt x="0" y="26162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26"/>
          <p:cNvSpPr txBox="1"/>
          <p:nvPr/>
        </p:nvSpPr>
        <p:spPr>
          <a:xfrm>
            <a:off x="2314825" y="263325"/>
            <a:ext cx="6183900" cy="9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latin typeface="Montserrat"/>
                <a:ea typeface="Montserrat"/>
                <a:cs typeface="Montserrat"/>
                <a:sym typeface="Montserrat"/>
              </a:rPr>
              <a:t>Target: alive_dead_status </a:t>
            </a:r>
            <a:endParaRPr b="1"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199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9" name="Google Shape;13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9150" y="92100"/>
            <a:ext cx="1060550" cy="102428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6"/>
          <p:cNvSpPr txBox="1"/>
          <p:nvPr/>
        </p:nvSpPr>
        <p:spPr>
          <a:xfrm>
            <a:off x="426050" y="1869575"/>
            <a:ext cx="47013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alive (1):</a:t>
            </a:r>
            <a: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2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485</a:t>
            </a:r>
            <a: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patients (</a:t>
            </a:r>
            <a:r>
              <a:rPr lang="en" sz="22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48.5%</a:t>
            </a:r>
            <a: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b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dead (2):</a:t>
            </a:r>
            <a: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2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515</a:t>
            </a:r>
            <a: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patients (</a:t>
            </a:r>
            <a:r>
              <a:rPr lang="en" sz="22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51.5%</a:t>
            </a:r>
            <a: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/>
          <p:nvPr/>
        </p:nvSpPr>
        <p:spPr>
          <a:xfrm>
            <a:off x="83475" y="92100"/>
            <a:ext cx="1060551" cy="909159"/>
          </a:xfrm>
          <a:custGeom>
            <a:rect b="b" l="l" r="r" t="t"/>
            <a:pathLst>
              <a:path extrusionOk="0" h="2616285" w="3119267">
                <a:moveTo>
                  <a:pt x="0" y="0"/>
                </a:moveTo>
                <a:lnTo>
                  <a:pt x="3119268" y="0"/>
                </a:lnTo>
                <a:lnTo>
                  <a:pt x="3119268" y="2616285"/>
                </a:lnTo>
                <a:lnTo>
                  <a:pt x="0" y="26162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27"/>
          <p:cNvSpPr txBox="1"/>
          <p:nvPr/>
        </p:nvSpPr>
        <p:spPr>
          <a:xfrm>
            <a:off x="2314825" y="263325"/>
            <a:ext cx="6183900" cy="9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latin typeface="Montserrat"/>
                <a:ea typeface="Montserrat"/>
                <a:cs typeface="Montserrat"/>
                <a:sym typeface="Montserrat"/>
              </a:rPr>
              <a:t>Target: survival_month </a:t>
            </a:r>
            <a:endParaRPr b="1"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199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7" name="Google Shape;14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9150" y="92100"/>
            <a:ext cx="1060550" cy="102428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7"/>
          <p:cNvSpPr txBox="1"/>
          <p:nvPr/>
        </p:nvSpPr>
        <p:spPr>
          <a:xfrm>
            <a:off x="340425" y="1211625"/>
            <a:ext cx="47013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 of missing values: </a:t>
            </a:r>
            <a: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2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br>
              <a:rPr lang="en" sz="22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2200">
              <a:solidFill>
                <a:srgbClr val="1880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Mean:</a:t>
            </a:r>
            <a: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2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31.8</a:t>
            </a:r>
            <a: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months</a:t>
            </a:r>
            <a:b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Median:</a:t>
            </a:r>
            <a: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2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22.3</a:t>
            </a:r>
            <a: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months</a:t>
            </a:r>
            <a:b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Minimum:</a:t>
            </a:r>
            <a: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2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0.0</a:t>
            </a:r>
            <a: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months</a:t>
            </a:r>
            <a:b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27"/>
          <p:cNvSpPr txBox="1"/>
          <p:nvPr/>
        </p:nvSpPr>
        <p:spPr>
          <a:xfrm>
            <a:off x="5203425" y="1211625"/>
            <a:ext cx="30000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Maximum:</a:t>
            </a:r>
            <a: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2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187.8</a:t>
            </a:r>
            <a: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months</a:t>
            </a:r>
            <a:b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Q1 (25th percentile):</a:t>
            </a:r>
            <a: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2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10.3</a:t>
            </a:r>
            <a: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months</a:t>
            </a:r>
            <a:b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Q3 (75th percentile):</a:t>
            </a:r>
            <a: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2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46.8</a:t>
            </a:r>
            <a: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months</a:t>
            </a:r>
            <a:endParaRPr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